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Remuneração média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Agente Político</c:v>
                  </c:pt>
                  <c:pt idx="1">
                    <c:v>Cessão (comissão)</c:v>
                  </c:pt>
                  <c:pt idx="2">
                    <c:v>Servidor Não Efetivo</c:v>
                  </c:pt>
                  <c:pt idx="3">
                    <c:v>Conselheiro Tutelar</c:v>
                  </c:pt>
                  <c:pt idx="4">
                    <c:v>Cessão (efetivo)</c:v>
                  </c:pt>
                  <c:pt idx="5">
                    <c:v>Estatutário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18864</c:v>
                </c:pt>
                <c:pt idx="1">
                  <c:v>5290</c:v>
                </c:pt>
                <c:pt idx="2">
                  <c:v>4404</c:v>
                </c:pt>
                <c:pt idx="3">
                  <c:v>3999</c:v>
                </c:pt>
                <c:pt idx="4">
                  <c:v>3821</c:v>
                </c:pt>
                <c:pt idx="5">
                  <c:v>3722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Massa salarial por ano de admissão (R$)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Massa salarial (R$)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4531021</c:v>
                </c:pt>
                <c:pt idx="1">
                  <c:v>5927432</c:v>
                </c:pt>
                <c:pt idx="2">
                  <c:v>6982067</c:v>
                </c:pt>
                <c:pt idx="3">
                  <c:v>5606808</c:v>
                </c:pt>
                <c:pt idx="4">
                  <c:v>4721515</c:v>
                </c:pt>
                <c:pt idx="5">
                  <c:v>5424348</c:v>
                </c:pt>
                <c:pt idx="6">
                  <c:v>2286710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4.png"/><Relationship Id="rId6" Type="http://schemas.openxmlformats.org/officeDocument/2006/relationships/image" Target="../media/image-11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4206240"/>
            <a:ext cx="4023360" cy="40233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937760"/>
            <a:ext cx="2560320" cy="2560320"/>
          </a:xfrm>
          <a:prstGeom prst="ellipse">
            <a:avLst/>
          </a:prstGeom>
          <a:solidFill>
            <a:srgbClr val="151B4A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 PÚBLICOS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8961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dos Gastos com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Servidores da Prefeitura de Criciúma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de alocação de recursos, normalização estatística e modelagem preditiva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201168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analisada: 17.604 registros de remuneração · 2020–2026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PERGUNTA-PROBLEMA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" name="Image 0" descr="assets/icon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253642"/>
            <a:ext cx="373075" cy="37307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057400"/>
            <a:ext cx="7315200" cy="324612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2331720"/>
            <a:ext cx="6675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estão distribuídos os gastos públicos com servidores da prefeitura de Criciúma e quais padrões de alocação de recursos podem ser identificados ao longo do tempo?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75320" y="10972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SE DIVIDE EM DUAS FRENTES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275320" y="1600200"/>
            <a:ext cx="33375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76488" y="180136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assets/icon_char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920240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052560" y="17647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052560" y="2103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concentração e desigualdade dos salários pagos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275320" y="3200400"/>
            <a:ext cx="33375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76488" y="340156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assets/icon_chartlin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520440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52560" y="33649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Alocação no tempo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9052560" y="37033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de contratações e folha salarial por ano e por vínculo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TRAJETÓRIA DE INVESTIGAÇÃO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dado bruto à modelagem preditiva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32720" cy="0"/>
          </a:xfrm>
          <a:prstGeom prst="line">
            <a:avLst/>
          </a:prstGeom>
          <a:noFill/>
          <a:ln w="25400">
            <a:solidFill>
              <a:srgbClr val="D8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468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assets/icon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" y="265907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monetária e remoção de nulos/zeros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15184" y="2468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assets/icon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379" y="265907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15184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2112264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Exploração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11226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Gauss, média, desvio-padrão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81728" y="2468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assets/icon_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923" y="265907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81728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178808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178808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Kolmogorov-Smirnov e Shapiro-Wilk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748272" y="2468880"/>
            <a:ext cx="731520" cy="73152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21" name="Image 3" descr="assets/icon_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467" y="2659075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48272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45352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24535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Box-Cox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8814816" y="2468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4" descr="assets/icon_projec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011" y="2659075"/>
            <a:ext cx="351130" cy="35113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814816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8311896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83118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para prever remuneração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10881360" y="24688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5" descr="assets/icon_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1555" y="2659075"/>
            <a:ext cx="351130" cy="35113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0881360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10378440" y="3337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378440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à pergunta-problema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EEF3FC"/>
          </a:solidFill>
          <a:ln/>
        </p:spPr>
      </p:sp>
      <p:sp>
        <p:nvSpPr>
          <p:cNvPr id="36" name="Text 28"/>
          <p:cNvSpPr/>
          <p:nvPr/>
        </p:nvSpPr>
        <p:spPr>
          <a:xfrm>
            <a:off x="868680" y="555955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metodológica: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17.604 registros, aplicamos KS (recomendado para N &gt; 30) e Shapiro-Wilk em paralelo, sabendo que este último é tecnicamente projetado para amostras de até 2.000 observações.</a:t>
            </a:r>
            <a:endParaRPr lang="en-US" sz="1250" dirty="0"/>
          </a:p>
        </p:txBody>
      </p:sp>
      <p:sp>
        <p:nvSpPr>
          <p:cNvPr id="37" name="Text 2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CORRELAÇÃO E VARIÁVEIS RESULTANTES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vínculo empregatício explica a remuneração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463040"/>
            <a:ext cx="3886200" cy="2057400"/>
          </a:xfrm>
          <a:prstGeom prst="roundRect">
            <a:avLst>
              <a:gd name="adj" fmla="val 355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46720" y="1645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DA VARIÁVEL (CatBoost)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046720" y="18745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feature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046720" y="25146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'Vínculo empregatício' é a única variável categórica usada no modelo, concentrando 100% do peso entre as features disponíveis.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3703320"/>
            <a:ext cx="3886200" cy="2240280"/>
          </a:xfrm>
          <a:prstGeom prst="roundRect">
            <a:avLst>
              <a:gd name="adj" fmla="val 3265"/>
            </a:avLst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8001000" y="38862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DOS DADOS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01000" y="4206240"/>
            <a:ext cx="3337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Políticos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 em média R$ 18.864, contra 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R$ 725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vínculos não informados — uma razão de mais de 25x entre o topo e a base da hierarquia salarial.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NORMALIZAÇÃO DOS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original está longe da normalidade</a:t>
            </a:r>
            <a:endParaRPr lang="en-US" sz="2400" dirty="0"/>
          </a:p>
        </p:txBody>
      </p:sp>
      <p:pic>
        <p:nvPicPr>
          <p:cNvPr id="4" name="Image 0" descr="assets/hist_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630936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40880" y="1554480"/>
            <a:ext cx="4663440" cy="1051560"/>
          </a:xfrm>
          <a:prstGeom prst="roundRect">
            <a:avLst>
              <a:gd name="adj" fmla="val 6087"/>
            </a:avLst>
          </a:prstGeom>
          <a:solidFill>
            <a:srgbClr val="EEF3FC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(SKEWNESS)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1520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4.07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seria próximo de 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040880" y="2761488"/>
            <a:ext cx="4663440" cy="1051560"/>
          </a:xfrm>
          <a:prstGeom prst="roundRect">
            <a:avLst>
              <a:gd name="adj" fmla="val 6087"/>
            </a:avLst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8712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CURTOSE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315200" y="3081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24.6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0" y="31729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 longa de salários altos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040880" y="3968496"/>
            <a:ext cx="4663440" cy="1051560"/>
          </a:xfrm>
          <a:prstGeom prst="roundRect">
            <a:avLst>
              <a:gd name="adj" fmla="val 6087"/>
            </a:avLst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40782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1 DESVIO-PADRÃO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315200" y="42885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91,5%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961120" y="437997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seria ~68%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040880" y="5221224"/>
            <a:ext cx="4663440" cy="96012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0" y="5404104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19" name="Image 1" descr="assets/icon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239" y="5534863"/>
            <a:ext cx="241402" cy="2414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909560" y="53126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e Shapiro-Wilk: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praticamente 0 nos dois testes — rejeitam normalidade com forte confiança estatística.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NORMALIZAÇÃO DOS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Box-Cox: a forma normalizou, o teste continuou rejeitando</a:t>
            </a:r>
            <a:endParaRPr lang="en-US" sz="2200" dirty="0"/>
          </a:p>
        </p:txBody>
      </p:sp>
      <p:pic>
        <p:nvPicPr>
          <p:cNvPr id="4" name="Image 0" descr="assets/hist_depo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6309360" cy="3520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83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 Box-Cox aplicada (λ = -0.057)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040880" y="1463040"/>
            <a:ext cx="4663440" cy="1234440"/>
          </a:xfrm>
          <a:prstGeom prst="roundRect">
            <a:avLst>
              <a:gd name="adj" fmla="val 5185"/>
            </a:avLst>
          </a:prstGeom>
          <a:solidFill>
            <a:srgbClr val="EEF3FC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ASSIMETRIA: ANTES → DEPOIS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315200" y="1920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4.07</a:t>
            </a:r>
            <a:pPr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→   </a:t>
            </a:r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-0.09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7040880" y="2816352"/>
            <a:ext cx="4663440" cy="1417320"/>
          </a:xfrm>
          <a:prstGeom prst="roundRect">
            <a:avLst>
              <a:gd name="adj" fmla="val 4516"/>
            </a:avLst>
          </a:prstGeom>
          <a:solidFill>
            <a:srgbClr val="F0FDF4"/>
          </a:solidFill>
          <a:ln/>
        </p:spPr>
      </p:sp>
      <p:sp>
        <p:nvSpPr>
          <p:cNvPr id="10" name="Shape 7"/>
          <p:cNvSpPr/>
          <p:nvPr/>
        </p:nvSpPr>
        <p:spPr>
          <a:xfrm>
            <a:off x="7296912" y="2999232"/>
            <a:ext cx="457200" cy="457200"/>
          </a:xfrm>
          <a:prstGeom prst="ellipse">
            <a:avLst/>
          </a:prstGeom>
          <a:solidFill>
            <a:srgbClr val="BBF7D0"/>
          </a:solidFill>
          <a:ln/>
        </p:spPr>
      </p:sp>
      <p:pic>
        <p:nvPicPr>
          <p:cNvPr id="11" name="Image 1" descr="assets/icon_che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784" y="311810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0956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Visualmente normal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296912" y="3337560"/>
            <a:ext cx="4151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de sino se ajusta bem ao histograma transformado — a forma da distribuição foi corrigida com sucesso.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040880" y="4370832"/>
            <a:ext cx="4663440" cy="2103120"/>
          </a:xfrm>
          <a:prstGeom prst="roundRect">
            <a:avLst>
              <a:gd name="adj" fmla="val 3043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45079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P-VALUE CONTINUA BAIXO?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7315200" y="48006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 = 17.604,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e Shapiro-Wilk se tornam hipersensíveis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rejeitam H₀ mesmo diante de desvios mínimos. Shapiro-Wilk é estatisticamente recomendado até ~2.000 registros — aqui a base é 8x maior que o limite ideal.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NORMALIZAÇÃO DOS DADOS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final: testes formais lado a lado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173736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2606040"/>
                <a:gridCol w="260604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Amostra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 (original)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 (Box-Cox)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Kolmogorov-Smirnov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17.604 (completa)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Shapiro-Wilk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17.604 (completa)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1.12e-106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1.24e-68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Shapiro-Wilk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2.000 (regra da aula)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5.23e-28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566160"/>
            <a:ext cx="10972800" cy="2606040"/>
          </a:xfrm>
          <a:prstGeom prst="roundRect">
            <a:avLst>
              <a:gd name="adj" fmla="val 2807"/>
            </a:avLst>
          </a:prstGeom>
          <a:solidFill>
            <a:srgbClr val="EEF3F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37490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DA ETAPA DE NORMALIZAÇÃO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respeitando rigorosamente a regra de amostra do Shapiro-Wilk (até 2.000 registros), o p-value permanece abaixo de 0,05.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confirma que a não-normalidade não é um erro metodológico, mas uma característica real da estrutura salarial pública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poucos cargos concentram remuneração muito acima da maioria. A transformação Box-Cox foi eficaz em corrigir a forma da curva (assimetria caiu de 4,07 para -0,09), e essa correção foi suficiente para viabilizar a etapa de modelagem preditiva que segue.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MODELO DE PREVISÃO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CatBoost: prevendo remuneração a partir do vínculo</a:t>
            </a:r>
            <a:endParaRPr lang="en-US" sz="2400" dirty="0"/>
          </a:p>
        </p:txBody>
      </p:sp>
      <p:pic>
        <p:nvPicPr>
          <p:cNvPr id="4" name="Image 0" descr="assets/scatter_catbo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12648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463040"/>
            <a:ext cx="4846320" cy="1691640"/>
          </a:xfrm>
          <a:prstGeom prst="roundRect">
            <a:avLst>
              <a:gd name="adj" fmla="val 432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78040" y="1645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DO MODELO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178040" y="18745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D4AF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67,6%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9509760" y="19202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variação na remuneração é explicada apenas pelo tipo de vínculo empregatício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0" y="3291840"/>
            <a:ext cx="4846320" cy="1005840"/>
          </a:xfrm>
          <a:prstGeom prst="roundRect">
            <a:avLst>
              <a:gd name="adj" fmla="val 7273"/>
            </a:avLst>
          </a:prstGeom>
          <a:solidFill>
            <a:srgbClr val="EEF3FC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0" y="3429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(escala Box-Cox)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132320" y="3657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0.318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858000" y="443484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0" y="4572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TÉCNICA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132320" y="486460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Regressor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Variável-alvo: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remuneração (Box-Cox)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empregatício  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Split: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treino / 20% teste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PREVISÕES FUTURAS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Evolução da folha salarial e o que esperar à frente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68580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reflete apenas o início do ano (dado parcial).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11480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DE CONTRATAÇÃO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1828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418320" y="18288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3.219 admissões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R$ 6.982.067 em folha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58952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0" y="3200400"/>
            <a:ext cx="502920" cy="50292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12" name="Image 0" descr="assets/icon_chart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99" y="33311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03920" y="31821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projetada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863840" y="36118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base no modelo CatBoost e na composição atual de vínculos, simulações de troca de regime contratual (ex.: temporário → estatutário) permitem estimar o impacto orçamentário antes de decisões de contratação.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589520" y="48463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/>
        </p:spPr>
      </p:sp>
      <p:sp>
        <p:nvSpPr>
          <p:cNvPr id="16" name="Text 12"/>
          <p:cNvSpPr/>
          <p:nvPr/>
        </p:nvSpPr>
        <p:spPr>
          <a:xfrm>
            <a:off x="7863840" y="49377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2026, a folha já soma R$ 2.286.710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1.063 admissões registradas — projeção parcial do ano em curso.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· DISTRIBUIÇÃO DOS GASTOS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gastos são concentrados: 10% dos servidores consomem 35% da folha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1%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gasto total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servidores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EEF3FC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828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61188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gasto total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3337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servidores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28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35,5%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44652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gasto total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3337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1.760 servidores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EEF3FC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828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8116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53,2%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281160" y="27889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gasto total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81160" y="3337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3.520 servidores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EEF3FC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429768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0" descr="assets/icon_balanc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44032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508760" y="4315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GINI DA REMUNERAÇÃO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508760" y="4553712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0.484</a:t>
            </a:r>
            <a:endParaRPr lang="en-US" sz="4000" dirty="0"/>
          </a:p>
        </p:txBody>
      </p:sp>
      <p:sp>
        <p:nvSpPr>
          <p:cNvPr id="29" name="Text 26"/>
          <p:cNvSpPr/>
          <p:nvPr/>
        </p:nvSpPr>
        <p:spPr>
          <a:xfrm>
            <a:off x="822960" y="5349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comparável à desigualdade de renda do Brasil como um todo (~0,52-0,53)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080760" y="4069080"/>
            <a:ext cx="5532120" cy="2057400"/>
          </a:xfrm>
          <a:prstGeom prst="roundRect">
            <a:avLst>
              <a:gd name="adj" fmla="val 3556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355080" y="4224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À PERGUNTA-PROBLEMA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355080" y="4526280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gastos não se distribuem de forma aleatória: seguem uma hierarquia estruturada pelo tipo de vínculo, com forte concentração no topo — padrão típico de folhas de pagamento públicas em todo o Brasil.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LIÇÕES APRENDIDAS E SUGESTÕES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e o que sugerimos aos gestores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6" name="Image 0" descr="assets/icon_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0290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Normalidade estatística ≠ qualidade do dado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200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bases grandes, testes formais (KS, Shapiro) tendem a rejeitar H₀ mesmo quando a forma da distribuição já é praticamente normal.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1874520"/>
            <a:ext cx="594360" cy="59436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11" name="Image 1" descr="assets/icon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534" y="20290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Box-Cox reduziu a assimetria em 98%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2000" y="3200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4,07 para -0,09 — prova que a transformação foi tecnicamente bem-sucedida, mesmo sem 'aprovar' o teste de hipótese.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1874520"/>
            <a:ext cx="594360" cy="594360"/>
          </a:xfrm>
          <a:prstGeom prst="ellipse">
            <a:avLst/>
          </a:prstGeom>
          <a:solidFill>
            <a:srgbClr val="D4AF37"/>
          </a:solidFill>
          <a:ln/>
        </p:spPr>
      </p:sp>
      <p:pic>
        <p:nvPicPr>
          <p:cNvPr id="16" name="Image 2" descr="assets/ic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5574" y="20290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606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desigualdade salarial é estrutural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21040" y="32004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de 0,48 e concentração de 35% do gasto nos 10% mais bem remunerados não são outliers — são o padrão real da folha.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16052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EEF3FC"/>
          </a:solidFill>
          <a:ln/>
        </p:spPr>
      </p:sp>
      <p:sp>
        <p:nvSpPr>
          <p:cNvPr id="20" name="Text 15"/>
          <p:cNvSpPr/>
          <p:nvPr/>
        </p:nvSpPr>
        <p:spPr>
          <a:xfrm>
            <a:off x="868680" y="43159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SUGESTÕES AOS STAKEHOLDERS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68680" y="4736592"/>
            <a:ext cx="320040" cy="3200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3" descr="assets/icon_chec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890" y="4819802"/>
            <a:ext cx="153619" cy="15361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46908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 índice de Gini como métrica anual de acompanhamento da equidade salarial interna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868680" y="5193792"/>
            <a:ext cx="320040" cy="3200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5" name="Image 4" descr="assets/icon_check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890" y="5277002"/>
            <a:ext cx="153619" cy="15361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25880" y="51480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a concentração de gastos por vínculo antes de novos editais de contratação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868680" y="5650992"/>
            <a:ext cx="320040" cy="3200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8" name="Image 5" descr="assets/icon_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890" y="5734202"/>
            <a:ext cx="153619" cy="153619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325880" y="560527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o modelo CatBoost para simular impacto orçamentário de mudanças de regime contratual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Prefeitura de Criciúma · Análise de Gastos com Servidores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Distribuição dos Gastos com Servidores - Prefeitura de Criciúma</dc:title>
  <dc:subject>PptxGenJS Presentation</dc:subject>
  <dc:creator>Análise de Dados - Prefeitura de Criciúma</dc:creator>
  <cp:lastModifiedBy>Análise de Dados - Prefeitura de Criciúma</cp:lastModifiedBy>
  <cp:revision>1</cp:revision>
  <dcterms:created xsi:type="dcterms:W3CDTF">2026-06-17T19:42:55Z</dcterms:created>
  <dcterms:modified xsi:type="dcterms:W3CDTF">2026-06-17T19:42:55Z</dcterms:modified>
</cp:coreProperties>
</file>