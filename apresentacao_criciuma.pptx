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2C34C-EDBF-351E-1BA1-427DBA2B9601}" v="31" dt="2026-06-21T12:39:21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Remuneração média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Agente Político</c:v>
                </c:pt>
                <c:pt idx="1">
                  <c:v>Cessão (comissão)</c:v>
                </c:pt>
                <c:pt idx="2">
                  <c:v>Servidor Não Efetivo</c:v>
                </c:pt>
                <c:pt idx="3">
                  <c:v>Conselheiro Tutelar</c:v>
                </c:pt>
                <c:pt idx="4">
                  <c:v>Cessão (efetivo)</c:v>
                </c:pt>
                <c:pt idx="5">
                  <c:v>Estatutário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18864</c:v>
                </c:pt>
                <c:pt idx="1">
                  <c:v>5290</c:v>
                </c:pt>
                <c:pt idx="2">
                  <c:v>4404</c:v>
                </c:pt>
                <c:pt idx="3">
                  <c:v>3999</c:v>
                </c:pt>
                <c:pt idx="4">
                  <c:v>3821</c:v>
                </c:pt>
                <c:pt idx="5">
                  <c:v>3722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B6-4B31-BAF1-40843D7D8E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Arial"/>
              </a:rPr>
              <a:t>Massa salarial por ano de admissão (R$)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Massa salarial (R$)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4531021</c:v>
                </c:pt>
                <c:pt idx="1">
                  <c:v>5927432</c:v>
                </c:pt>
                <c:pt idx="2">
                  <c:v>6982067</c:v>
                </c:pt>
                <c:pt idx="3">
                  <c:v>5606808</c:v>
                </c:pt>
                <c:pt idx="4">
                  <c:v>4721515</c:v>
                </c:pt>
                <c:pt idx="5">
                  <c:v>5424348</c:v>
                </c:pt>
                <c:pt idx="6">
                  <c:v>2286710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D9-42D2-8157-EA88E961A4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5112C-8425-49D1-8574-4C33E7C540B3}" type="datetimeFigureOut"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5A23A-F8D2-4539-98A9-3427205046E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42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937760"/>
            <a:ext cx="2560320" cy="2560320"/>
          </a:xfrm>
          <a:prstGeom prst="ellipse">
            <a:avLst/>
          </a:prstGeom>
          <a:solidFill>
            <a:srgbClr val="15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PÚBLICOS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dos Gastos com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Servidores da Prefeitura de Criciúma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alocação de recursos, normalização estatística e modelagem preditiva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20116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66566"/>
            <a:ext cx="7315200" cy="27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Base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analisada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: 17.604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remuneração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· 2020–2026</a:t>
            </a:r>
          </a:p>
          <a:p>
            <a:endParaRPr lang="en-US" sz="1200" dirty="0">
              <a:solidFill>
                <a:srgbClr val="CADCFC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1645D27-EE06-6C75-B89A-59CFC31327C6}"/>
              </a:ext>
            </a:extLst>
          </p:cNvPr>
          <p:cNvSpPr/>
          <p:nvPr/>
        </p:nvSpPr>
        <p:spPr>
          <a:xfrm>
            <a:off x="640080" y="4940104"/>
            <a:ext cx="7315200" cy="27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Gabriel Casagrande, Guilherme Carrer, Pedro Canto e Filipe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Guizzo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endParaRPr lang="en-US" sz="1200" dirty="0">
              <a:solidFill>
                <a:srgbClr val="CADCF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PERGUNTA-PROBLEMA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assets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253642"/>
            <a:ext cx="373075" cy="373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057400"/>
            <a:ext cx="7315200" cy="324612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33172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estão distribuídos os gastos públicos com servidores da prefeitura de Criciúma e quais padrões de alocação de recursos podem ser identificados ao longo do tempo?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7532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SE DIVIDE EM DUAS FRENTES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75320" y="160020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7648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assets/icon_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9202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52560" y="1764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052560" y="2103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concentração e desigualdade dos salários pagos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75320" y="320040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76488" y="34015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assets/icon_chartlin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5204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no tempo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052560" y="37033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de contratações e folha salarial por ano e por vínculo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TRAJETÓRIA DE INVESTIGAÇÃO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bruto à modelagem preditiva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254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6590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" y="3675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monetária e remoção de nulos/zeros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15184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assets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379" y="26590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15184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12264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112264" y="3675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Gauss, média, desvio-padrão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81728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assets/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923" y="26590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81728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178808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178808" y="3675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e Shapiro-Wilk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48272" y="246888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assets/icon_cal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467" y="265907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48272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45352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45352" y="3675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Box-Cox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814816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assets/icon_proj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5011" y="2659075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814816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311896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311896" y="3675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para prever remuneração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1088136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assets/icon_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1555" y="2659075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88136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03784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0378440" y="3675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à pergunta-problema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55595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metodológica: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17.604 registros, aplicamos KS (recomendado para N &gt; 30) e Shapiro-Wilk em paralelo, sabendo que este último é tecnicamente projetado para amostras de até 2.000 observações.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CORRELAÇÃO E VARIÁVEIS RESULTANTES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vínculo empregatício explica a remuneração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63040"/>
            <a:ext cx="388620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645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 VARIÁVEL (CatBoost)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feature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'Vínculo empregatício' é a única variável categórica usada no modelo, concentrando 100% do peso entre as features disponíveis.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3703320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EEF3FC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DADOS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0" y="42062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Políticos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 em média R$ 18.864, contra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R$ 725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vínculos não informados — uma razão de mais de 25x entre o topo e a base da hierarquia salarial.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NORMALIZAÇÃO DOS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original está longe da normalidade</a:t>
            </a:r>
            <a:endParaRPr lang="en-US" sz="2400" dirty="0"/>
          </a:p>
        </p:txBody>
      </p:sp>
      <p:pic>
        <p:nvPicPr>
          <p:cNvPr id="4" name="Image 0" descr="assets/hist_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309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54480"/>
            <a:ext cx="466344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(SKEWNESS)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9611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seria próximo de 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40880" y="2761488"/>
            <a:ext cx="466344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871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3081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961120" y="31729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 longa de salários altos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40880" y="3968496"/>
            <a:ext cx="466344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1 DESVIO-PADRÃO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42885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961120" y="4379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seria ~68%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40880" y="5221224"/>
            <a:ext cx="4663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8" name="Shape 15"/>
          <p:cNvSpPr/>
          <p:nvPr/>
        </p:nvSpPr>
        <p:spPr>
          <a:xfrm>
            <a:off x="7269480" y="5404104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9" name="Image 1" descr="assets/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239" y="5534863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909560" y="53126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e Shapiro-Wilk: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praticamente 0 nos dois testes — rejeitam normalidade com forte confiança estatística.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NORMALIZAÇÃO DOS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Box-Cox: a forma normalizou, o teste continuou rejeitando</a:t>
            </a:r>
            <a:endParaRPr lang="en-US" sz="2200" dirty="0"/>
          </a:p>
        </p:txBody>
      </p:sp>
      <p:pic>
        <p:nvPicPr>
          <p:cNvPr id="4" name="Image 0" descr="assets/hist_dep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0936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83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Box-Cox aplicada (λ = -0.057)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040880" y="1463040"/>
            <a:ext cx="4663440" cy="1234440"/>
          </a:xfrm>
          <a:prstGeom prst="roundRect">
            <a:avLst>
              <a:gd name="adj" fmla="val 5185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ASSIMETRIA: ANTES → DEPOIS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4.07</a:t>
            </a:r>
            <a:r>
              <a:rPr lang="en-US" sz="2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r>
              <a:rPr lang="en-US" sz="3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-0.09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040880" y="2816352"/>
            <a:ext cx="4663440" cy="1417320"/>
          </a:xfrm>
          <a:prstGeom prst="roundRect">
            <a:avLst>
              <a:gd name="adj" fmla="val 4516"/>
            </a:avLst>
          </a:prstGeom>
          <a:solidFill>
            <a:srgbClr val="F0FDF4"/>
          </a:solidFill>
          <a:ln/>
        </p:spPr>
      </p:sp>
      <p:sp>
        <p:nvSpPr>
          <p:cNvPr id="10" name="Shape 7"/>
          <p:cNvSpPr/>
          <p:nvPr/>
        </p:nvSpPr>
        <p:spPr>
          <a:xfrm>
            <a:off x="7296912" y="2999232"/>
            <a:ext cx="457200" cy="457200"/>
          </a:xfrm>
          <a:prstGeom prst="ellipse">
            <a:avLst/>
          </a:prstGeom>
          <a:solidFill>
            <a:srgbClr val="BBF7D0"/>
          </a:solidFill>
          <a:ln/>
        </p:spPr>
      </p:sp>
      <p:pic>
        <p:nvPicPr>
          <p:cNvPr id="11" name="Image 1" descr="assets/icon_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31181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0956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Visualmente normal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296912" y="3337560"/>
            <a:ext cx="4151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sino se ajusta bem ao histograma transformado — a forma da distribuição foi corrigida com sucesso.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040880" y="4370832"/>
            <a:ext cx="46634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0" y="4507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P-VALUE CONTINUA BAIXO?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315200" y="48006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 = 17.604,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e Shapiro-Wilk se tornam hipersensíveis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rejeitam H₀ mesmo diante de desvios mínimos. Shapiro-Wilk é estatisticamente recomendado até ~2.000 registros — aqui a base é 8x maior que o limite ideal.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NORMALIZAÇÃO DOS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final: testes formais lado a lado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171907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(original)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(Box-Cox)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Kolmogorov-Smirnov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17.604 (completa)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Shapiro-Wilk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17.604 (completa)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1.12e-106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1.24e-68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Shapiro-Wilk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2.000 (regra da aula)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5.23e-28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66160"/>
            <a:ext cx="10972800" cy="2606040"/>
          </a:xfrm>
          <a:prstGeom prst="roundRect">
            <a:avLst>
              <a:gd name="adj" fmla="val 2807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3749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ETAPA DE NORMALIZAÇÃO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411480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respeitando rigorosamente a regra de amostra do Shapiro-Wilk (até 2.000 registros), o p-value permanece abaixo de 0,05.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confirma que a não-normalidade não é um erro metodológico, mas uma característica real da estrutura salarial pública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poucos cargos concentram remuneração muito acima da maioria. A transformação Box-Cox foi eficaz em corrigir a forma da curva (assimetria caiu de 4,07 para -0,09), e essa correção foi suficiente para viabilizar a etapa de modelagem preditiva que segue.</a:t>
            </a:r>
            <a:endParaRPr lang="en-US" sz="1350" dirty="0"/>
          </a:p>
        </p:txBody>
      </p:sp>
      <p:sp>
        <p:nvSpPr>
          <p:cNvPr id="4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MODELO DE PREVISÃO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CatBoost: prevendo remuneração a partir do vínculo</a:t>
            </a:r>
            <a:endParaRPr lang="en-US" sz="2400" dirty="0"/>
          </a:p>
        </p:txBody>
      </p:sp>
      <p:pic>
        <p:nvPicPr>
          <p:cNvPr id="4" name="Image 0" descr="assets/scatter_cat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612648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463040"/>
            <a:ext cx="484632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DO MODELO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67,6%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9509760" y="19202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variação na remuneração é explicada apenas pelo tipo de vínculo empregatício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329184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(escala Box-Cox)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0.318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858000" y="443484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0" y="4572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32320" y="48646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Regressor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Variável-alvo: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 (Box-Cox)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empregatício  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Split: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treino / 20% teste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PREVISÕES FUTURAS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da folha salarial e o que esperar à frente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6858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reflete apenas o início do ano (dado parcial).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589520" y="14630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CONTRATAÇÃO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6384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418320" y="18288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3.219 admissões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R$ 6.982.067 em folha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0" y="320040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2" name="Image 0" descr="assets/icon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599" y="33311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projetada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63840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no modelo CatBoost e na composição atual de vínculos, simulações de troca de regime contratual (ex.: temporário → estatutário) permitem estimar o impacto orçamentário antes de decisões de contratação.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89520" y="4846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2026, a folha já soma R$ 2.286.710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1.063 admissões registradas — projeção parcial do ano em curso.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· DISTRIBUIÇÃO DOS GASTOS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gastos são concentrados: 10% dos servidores consomem 35% da folha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gasto total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servidores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1188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gasto total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servidores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35,5%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gasto total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1.760 servidores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8116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53,2%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28116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gasto 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3.520 servidores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0" descr="assets/icon_balanc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44032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0876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GINI DA REMUNERAÇÃO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508760" y="45537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0.484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822960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comparável à desigualdade de renda do Brasil como um todo (~0,52-0,53)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08076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635508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À PERGUNTA-PROBLEMA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355080" y="452628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gastos não se distribuem de forma aleatória: seguem uma hierarquia estruturada pelo tipo de vínculo, com forte concentração no topo — padrão típico de folhas de pagamento públicas em todo o Brasil.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LIÇÕES APRENDIDAS E SUGESTÕES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e o que sugerimos aos gestores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assets/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Normalidade estatística ≠ qualidade do dado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bases grandes, testes formais (KS, Shapiro) tendem a rejeitar H₀ mesmo quando a forma da distribuição já é praticamente normal.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assets/icon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534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Box-Cox reduziu a assimetria em 98%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200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4,07 para -0,09 — prova que a transformação foi tecnicamente bem-sucedida, mesmo sem 'aprovar' o teste de hipótese.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8745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assets/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574" y="2029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desigualdade salarial é estrutural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200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de 0,48 e concentração de 35% do gasto nos 10% mais bem remunerados não são outliers — são o padrão real da folha.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3159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AOS STAKEHOLDERS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68680" y="4736592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assets/icon_che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" y="4819802"/>
            <a:ext cx="153619" cy="1536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6908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índice de Gini como métrica anual de acompanhamento da equidade salarial interna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68680" y="5193792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assets/icon_che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" y="5277002"/>
            <a:ext cx="153619" cy="1536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1480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a concentração de gastos por vínculo antes de novos editais de contratação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68680" y="5650992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5" descr="assets/icon_che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" y="5734202"/>
            <a:ext cx="153619" cy="15361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5880" y="56052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modelo CatBoost para simular impacto orçamentário de mudanças de regime contratual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Criciúma · Análise de Gastos com Servidores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Distribuição dos Gastos com Servidores - Prefeitura de Criciúma</dc:title>
  <dc:subject>PptxGenJS Presentation</dc:subject>
  <dc:creator>Análise de Dados - Prefeitura de Criciúma</dc:creator>
  <cp:lastModifiedBy>Análise de Dados - Prefeitura de Criciúma</cp:lastModifiedBy>
  <cp:revision>10</cp:revision>
  <dcterms:created xsi:type="dcterms:W3CDTF">2026-06-17T19:42:55Z</dcterms:created>
  <dcterms:modified xsi:type="dcterms:W3CDTF">2026-06-21T12:39:38Z</dcterms:modified>
</cp:coreProperties>
</file>